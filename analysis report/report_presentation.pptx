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  <p:bold r:id="rId14"/>
    </p:embeddedFont>
    <p:embeddedFont>
      <p:font typeface="Libre Baskerville" panose="020000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A"/>
    <a:srgbClr val="CC9D27"/>
    <a:srgbClr val="40320C"/>
    <a:srgbClr val="5C4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900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340497" y="4608397"/>
            <a:ext cx="5607010" cy="398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Actionable insights from customer transaction data</a:t>
            </a:r>
            <a:endParaRPr lang="en-US" sz="1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775E693-0131-A106-1295-572D56366B3D}"/>
              </a:ext>
            </a:extLst>
          </p:cNvPr>
          <p:cNvSpPr/>
          <p:nvPr/>
        </p:nvSpPr>
        <p:spPr>
          <a:xfrm>
            <a:off x="213928" y="7838534"/>
            <a:ext cx="2228190" cy="290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Developed By – Rohit Das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slightly higher total revenue than Female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479282-1BC0-5CF9-904D-ADE1F1304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367" y="2076976"/>
            <a:ext cx="6883529" cy="42688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E0C75152-EA09-A996-B8F1-55503CBC29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1302231" y="-714905"/>
            <a:ext cx="17234862" cy="434877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980055" y="4012902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</a:rPr>
              <a:t>3.86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670005" y="4525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363752" y="5311343"/>
            <a:ext cx="13385702" cy="124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and fix common issues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reviewing low-rated feedback and addressing recurring problems related to product quality, fit, or delivery.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Encourage satisfied customers to leave reviews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through post-purchase follow-ups, as more positive reviews will help improve the overall </a:t>
            </a:r>
          </a:p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rating and customer trust.</a:t>
            </a:r>
          </a:p>
          <a:p>
            <a:pPr>
              <a:lnSpc>
                <a:spcPts val="2850"/>
              </a:lnSpc>
            </a:pPr>
            <a:endParaRPr lang="en-US" sz="1600" dirty="0"/>
          </a:p>
        </p:txBody>
      </p:sp>
      <p:sp>
        <p:nvSpPr>
          <p:cNvPr id="17" name="Text 4"/>
          <p:cNvSpPr/>
          <p:nvPr/>
        </p:nvSpPr>
        <p:spPr>
          <a:xfrm>
            <a:off x="7422158" y="4012902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</a:rPr>
              <a:t>3.84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112108" y="4525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2200" dirty="0"/>
          </a:p>
        </p:txBody>
      </p:sp>
      <p:sp>
        <p:nvSpPr>
          <p:cNvPr id="25" name="Text 7"/>
          <p:cNvSpPr/>
          <p:nvPr/>
        </p:nvSpPr>
        <p:spPr>
          <a:xfrm>
            <a:off x="11864261" y="4012902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3.82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554210" y="4525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2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688F937-0862-FB7A-7057-4802BAE32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7455" y="3845795"/>
            <a:ext cx="435600" cy="43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68854" y="27537"/>
            <a:ext cx="45441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3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933A225-D37B-7300-E926-F43F4EFC5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05" y="3842882"/>
            <a:ext cx="434087" cy="4340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F250A8A-3C08-01EA-A252-606C00557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320" y="3831256"/>
            <a:ext cx="434087" cy="43408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75E35C0-E517-106F-BAAB-1558B2D29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635" y="3842882"/>
            <a:ext cx="434087" cy="43408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176A04A-79C8-840C-63A1-3CB5DC537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113" y="3885278"/>
            <a:ext cx="435600" cy="4356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2E9F3BB-8AA8-4F58-202D-8C25B3E51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663" y="3882365"/>
            <a:ext cx="434087" cy="43408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0F04A2D-B0F6-53D1-598A-2160A209B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2978" y="3870739"/>
            <a:ext cx="434087" cy="43408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E29CF64-5B08-9C25-AA72-A55B41712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293" y="3882365"/>
            <a:ext cx="434087" cy="43408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482E70D-84FB-B1F6-F84C-D87C1C501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4629" y="3901330"/>
            <a:ext cx="435600" cy="4356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71F2CE1-8BB7-229B-E591-E519BE3B4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7179" y="3898417"/>
            <a:ext cx="434087" cy="43408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6D7A554-1499-7750-5AE5-B27C22F84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4494" y="3886791"/>
            <a:ext cx="434087" cy="43408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205FF6-D497-0856-F87A-71AE1E2D1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1809" y="3898417"/>
            <a:ext cx="434087" cy="43408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A3A598A-3FCF-5D17-2DF1-A8EBB9CB26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4133" y="2268123"/>
            <a:ext cx="3171184" cy="13272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852" y="0"/>
            <a:ext cx="5711548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$60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8082581" cy="1166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order values are similar across shipping types, with express shipping</a:t>
            </a:r>
          </a:p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showing a marginally higher spend than standard shipping.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6673" y="1444319"/>
            <a:ext cx="3811663" cy="65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703196" y="631883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       Non-Subscribers</a:t>
            </a:r>
            <a:endParaRPr lang="en-US" sz="175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E50F339A-1FF1-0222-CEFC-E2B30F52B594}"/>
              </a:ext>
            </a:extLst>
          </p:cNvPr>
          <p:cNvSpPr/>
          <p:nvPr/>
        </p:nvSpPr>
        <p:spPr>
          <a:xfrm>
            <a:off x="1712840" y="6414487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65A3D7CF-4288-CF6B-548E-23B0C38E2C7C}"/>
              </a:ext>
            </a:extLst>
          </p:cNvPr>
          <p:cNvSpPr/>
          <p:nvPr/>
        </p:nvSpPr>
        <p:spPr>
          <a:xfrm>
            <a:off x="3433115" y="642374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71C1FC-57C8-ED1B-429B-D1E19668E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65" y="2207033"/>
            <a:ext cx="5238074" cy="400689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E8EB77-11B2-EF75-F969-85347B946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819" y="2207032"/>
            <a:ext cx="6026522" cy="400689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C18092DD-306D-8003-43C9-7BE4D35FF8C1}"/>
              </a:ext>
            </a:extLst>
          </p:cNvPr>
          <p:cNvSpPr/>
          <p:nvPr/>
        </p:nvSpPr>
        <p:spPr>
          <a:xfrm>
            <a:off x="9187392" y="1444319"/>
            <a:ext cx="3725108" cy="65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Category</a:t>
            </a:r>
            <a:endParaRPr lang="en-US" sz="24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D38CF074-0F99-83A9-0E0A-331CEBF11406}"/>
              </a:ext>
            </a:extLst>
          </p:cNvPr>
          <p:cNvSpPr/>
          <p:nvPr/>
        </p:nvSpPr>
        <p:spPr>
          <a:xfrm>
            <a:off x="512593" y="245460"/>
            <a:ext cx="8281981" cy="98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Revenue Insights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655" y="596274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583" y="1644015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07127" y="226004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969452" y="18708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969452" y="2361248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79.90% - High value customers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616" y="3007638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07127" y="346174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045539" y="3234452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045539" y="3724870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17.97%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 flipV="1">
            <a:off x="5875399" y="5007769"/>
            <a:ext cx="6814689" cy="45719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29" y="4371261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07008" y="482536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121507" y="4598075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121507" y="5088493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2.13%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294543" y="5906214"/>
            <a:ext cx="13544119" cy="147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proportion of new customers is currently very low, which limits future revenue growth and customer base expansion.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customer acquisition on high-intent channels by promoting top-rated, frequently purchased products to attract relevant new buyers.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them to returning customers by offering a first-purchase incentive linked to a clear second-purchase or subscription follow-up.</a:t>
            </a: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ts val="2850"/>
              </a:lnSpc>
            </a:pPr>
            <a:endParaRPr lang="en-US" sz="175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6D0A6BB-9A71-6D05-6A2D-2A33297EAF2B}"/>
              </a:ext>
            </a:extLst>
          </p:cNvPr>
          <p:cNvSpPr/>
          <p:nvPr/>
        </p:nvSpPr>
        <p:spPr>
          <a:xfrm flipV="1">
            <a:off x="4282068" y="2358661"/>
            <a:ext cx="8250815" cy="45719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BBD2BE8-D6F8-06A6-F3AA-D82C2978D8D9}"/>
              </a:ext>
            </a:extLst>
          </p:cNvPr>
          <p:cNvSpPr/>
          <p:nvPr/>
        </p:nvSpPr>
        <p:spPr>
          <a:xfrm flipV="1">
            <a:off x="5280667" y="3676565"/>
            <a:ext cx="7353665" cy="45719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365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 Light</vt:lpstr>
      <vt:lpstr>Libre Baskerville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Rohit Das</cp:lastModifiedBy>
  <cp:revision>8</cp:revision>
  <dcterms:created xsi:type="dcterms:W3CDTF">2025-10-14T02:52:14Z</dcterms:created>
  <dcterms:modified xsi:type="dcterms:W3CDTF">2026-02-06T07:18:32Z</dcterms:modified>
</cp:coreProperties>
</file>